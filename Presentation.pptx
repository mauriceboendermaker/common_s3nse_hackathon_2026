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ZKredit — a privacy-first DeFi lending platform using zero knowledge. Borrowers prove they qualify; lenders read nothing.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borrow today you hand over the wallet: balances, positions, counterparties, loan history, the transfer graph. Permanently, publicly. That is why the borrowers worth underwriting stay away.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steps, live today. The portfolio is read from Solana mainnet keyless, proven in the browser in about half a second, and verified server-side in eleven milliseconds against eight bindings the server re-derives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privacy claim. Four private numbers go in, four booleans come out against the lender's own policy. The numbers never leave the applicant's machine.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ENS text record carries an X25519 payout key, so every draw lands on a fresh Solana address. Two loans to the same borrower are not linkable. Built this week; the ceremony is a development ceremony and nothing is deployed on Solana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0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476500" y="4762500"/>
            <a:ext cx="8572500" cy="8572500"/>
          </a:xfrm>
          <a:prstGeom prst="ellipse">
            <a:avLst/>
          </a:prstGeom>
          <a:solidFill>
            <a:srgbClr val="0F5138">
              <a:alpha val="20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143000" y="1047750"/>
            <a:ext cx="2299287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364"/>
              </a:lnSpc>
              <a:buNone/>
            </a:pPr>
            <a:r>
              <a:rPr lang="en-US" sz="3000" spc="540" kern="0" dirty="0">
                <a:solidFill>
                  <a:srgbClr val="EA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ZKREDIT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423761" y="1266825"/>
            <a:ext cx="419100" cy="152400"/>
          </a:xfrm>
          <a:prstGeom prst="roundRect">
            <a:avLst>
              <a:gd name="adj" fmla="val 12500"/>
            </a:avLst>
          </a:prstGeom>
          <a:solidFill>
            <a:srgbClr val="BDE6D0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143000" y="2814796"/>
            <a:ext cx="15304770" cy="3247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725"/>
              </a:lnSpc>
              <a:buNone/>
            </a:pPr>
            <a:r>
              <a:rPr lang="en-US" sz="7800" spc="-273" kern="0" dirty="0">
                <a:solidFill>
                  <a:srgbClr val="EA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pPr algn="l" indent="0" marL="0">
              <a:lnSpc>
                <a:spcPct val="95725"/>
              </a:lnSpc>
              <a:buNone/>
            </a:pPr>
            <a:r>
              <a:rPr lang="en-US" sz="7800" spc="-273" kern="0" dirty="0">
                <a:solidFill>
                  <a:srgbClr val="BDE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privacy-first </a:t>
            </a:r>
            <a:pPr algn="l" indent="0" marL="0">
              <a:lnSpc>
                <a:spcPct val="95725"/>
              </a:lnSpc>
              <a:buNone/>
            </a:pPr>
            <a:r>
              <a:rPr lang="en-US" sz="7800" spc="-273" kern="0" dirty="0">
                <a:solidFill>
                  <a:srgbClr val="EA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 lending platform using zero knowledge</a:t>
            </a:r>
            <a:endParaRPr lang="en-US" sz="7800" dirty="0"/>
          </a:p>
        </p:txBody>
      </p:sp>
      <p:sp>
        <p:nvSpPr>
          <p:cNvPr id="6" name="Text 4"/>
          <p:cNvSpPr/>
          <p:nvPr/>
        </p:nvSpPr>
        <p:spPr>
          <a:xfrm>
            <a:off x="1143000" y="6519545"/>
            <a:ext cx="10988040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119"/>
              </a:lnSpc>
              <a:buNone/>
            </a:pPr>
            <a:r>
              <a:rPr lang="en-US" sz="2550" dirty="0">
                <a:solidFill>
                  <a:srgbClr val="C6D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borrower proves a real portfolio meets the lender’s policy — and the money lands where nothing links back.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143000" y="8855393"/>
            <a:ext cx="5265293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35"/>
              </a:lnSpc>
              <a:buNone/>
            </a:pPr>
            <a:r>
              <a:rPr lang="en-US" sz="1950" spc="117" kern="0" dirty="0">
                <a:solidFill>
                  <a:srgbClr val="EAF4EE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S3NSE HACKATHON 2026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6139180" y="8855393"/>
            <a:ext cx="162401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35"/>
              </a:lnSpc>
              <a:buNone/>
            </a:pPr>
            <a:r>
              <a:rPr lang="en-US" sz="1950" spc="117" kern="0" dirty="0">
                <a:solidFill>
                  <a:srgbClr val="EAF4EE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950" dirty="0"/>
          </a:p>
        </p:txBody>
      </p:sp>
      <p:sp>
        <p:nvSpPr>
          <p:cNvPr id="9" name="TextBox 8"/>
          <p:cNvSpPr txBox="1"/>
          <p:nvPr/>
        </p:nvSpPr>
        <p:spPr>
          <a:xfrm>
            <a:off x="6400800" y="88696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50">
                <a:solidFill>
                  <a:srgbClr val="C6D6CC"/>
                </a:solidFill>
                <a:latin typeface="Arial"/>
              </a:rPr>
              <a:t>Live on Solana devnet · identity on ENSv2 Sepolia · Groth16 proved in the browser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20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2269966"/>
            <a:ext cx="7810500" cy="5747068"/>
          </a:xfrm>
          <a:prstGeom prst="roundRect">
            <a:avLst>
              <a:gd name="adj" fmla="val 2320"/>
            </a:avLst>
          </a:prstGeom>
          <a:solidFill>
            <a:srgbClr val="203129"/>
          </a:solidFill>
          <a:ln w="6985">
            <a:solidFill>
              <a:srgbClr val="34483E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607185" y="2741930"/>
            <a:ext cx="3739944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35"/>
              </a:lnSpc>
              <a:buNone/>
            </a:pPr>
            <a:r>
              <a:rPr lang="en-US" sz="1950" spc="273" kern="0" dirty="0">
                <a:solidFill>
                  <a:srgbClr val="EAF4EE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DISCLOSURE REQUEST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6583680" y="2696051"/>
            <a:ext cx="2011680" cy="482600"/>
          </a:xfrm>
          <a:prstGeom prst="roundRect">
            <a:avLst>
              <a:gd name="adj" fmla="val 50000"/>
            </a:avLst>
          </a:prstGeom>
          <a:ln w="6985">
            <a:solidFill>
              <a:srgbClr val="19644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675120" y="2760186"/>
            <a:ext cx="1828800" cy="39243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7101"/>
              </a:lnSpc>
              <a:buNone/>
            </a:pPr>
            <a:r>
              <a:rPr lang="en-US" sz="1800" spc="180" kern="0" dirty="0">
                <a:solidFill>
                  <a:srgbClr val="E2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607185" y="3445351"/>
            <a:ext cx="6882130" cy="9525"/>
          </a:xfrm>
          <a:prstGeom prst="rect">
            <a:avLst/>
          </a:prstGeom>
          <a:solidFill>
            <a:srgbClr val="34483E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607185" y="3738086"/>
            <a:ext cx="3457575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913"/>
              </a:lnSpc>
              <a:buNone/>
            </a:pPr>
            <a:r>
              <a:rPr lang="en-US" sz="2250" dirty="0">
                <a:solidFill>
                  <a:srgbClr val="EA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 balances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5017135" y="3845243"/>
            <a:ext cx="3472180" cy="228600"/>
          </a:xfrm>
          <a:prstGeom prst="roundRect">
            <a:avLst>
              <a:gd name="adj" fmla="val 12500"/>
            </a:avLst>
          </a:prstGeom>
          <a:solidFill>
            <a:srgbClr val="34483E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607185" y="4428649"/>
            <a:ext cx="3457575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913"/>
              </a:lnSpc>
              <a:buNone/>
            </a:pPr>
            <a:r>
              <a:rPr lang="en-US" sz="2250" dirty="0">
                <a:solidFill>
                  <a:srgbClr val="EA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open position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5017135" y="4535805"/>
            <a:ext cx="3472180" cy="228600"/>
          </a:xfrm>
          <a:prstGeom prst="roundRect">
            <a:avLst>
              <a:gd name="adj" fmla="val 12500"/>
            </a:avLst>
          </a:prstGeom>
          <a:solidFill>
            <a:srgbClr val="34483E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607185" y="5119211"/>
            <a:ext cx="3457575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913"/>
              </a:lnSpc>
              <a:buNone/>
            </a:pPr>
            <a:r>
              <a:rPr lang="en-US" sz="2250" dirty="0">
                <a:solidFill>
                  <a:srgbClr val="EA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Counterparties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5017135" y="5226368"/>
            <a:ext cx="3472180" cy="228600"/>
          </a:xfrm>
          <a:prstGeom prst="roundRect">
            <a:avLst>
              <a:gd name="adj" fmla="val 12500"/>
            </a:avLst>
          </a:prstGeom>
          <a:solidFill>
            <a:srgbClr val="34483E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607185" y="5809774"/>
            <a:ext cx="3457575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913"/>
              </a:lnSpc>
              <a:buNone/>
            </a:pPr>
            <a:r>
              <a:rPr lang="en-US" sz="2250" dirty="0">
                <a:solidFill>
                  <a:srgbClr val="EA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 history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5017135" y="5916930"/>
            <a:ext cx="3472180" cy="228600"/>
          </a:xfrm>
          <a:prstGeom prst="roundRect">
            <a:avLst>
              <a:gd name="adj" fmla="val 12500"/>
            </a:avLst>
          </a:prstGeom>
          <a:solidFill>
            <a:srgbClr val="34483E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607185" y="6500336"/>
            <a:ext cx="3457575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913"/>
              </a:lnSpc>
              <a:buNone/>
            </a:pPr>
            <a:r>
              <a:rPr lang="en-US" sz="2250" dirty="0">
                <a:solidFill>
                  <a:srgbClr val="EA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graph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5017135" y="6607493"/>
            <a:ext cx="3472180" cy="228600"/>
          </a:xfrm>
          <a:prstGeom prst="roundRect">
            <a:avLst>
              <a:gd name="adj" fmla="val 12500"/>
            </a:avLst>
          </a:prstGeom>
          <a:solidFill>
            <a:srgbClr val="34483E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607185" y="7248049"/>
            <a:ext cx="757034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734"/>
              </a:lnSpc>
              <a:buNone/>
            </a:pPr>
            <a:r>
              <a:rPr lang="en-US" sz="1950" dirty="0">
                <a:solidFill>
                  <a:srgbClr val="EAF4EE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Handed over, and public forever.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9867900" y="2284889"/>
            <a:ext cx="2398649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35"/>
              </a:lnSpc>
              <a:buNone/>
            </a:pPr>
            <a:r>
              <a:rPr lang="en-US" sz="1950" spc="312" kern="0" dirty="0">
                <a:solidFill>
                  <a:srgbClr val="BDE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867900" y="3087846"/>
            <a:ext cx="7495413" cy="1630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276"/>
              </a:lnSpc>
              <a:buNone/>
            </a:pPr>
            <a:r>
              <a:rPr lang="en-US" sz="5700" spc="-171" kern="0" dirty="0">
                <a:solidFill>
                  <a:srgbClr val="EA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borrow, you hand over all of it.</a:t>
            </a:r>
            <a:endParaRPr lang="en-US" sz="5700" dirty="0"/>
          </a:p>
        </p:txBody>
      </p:sp>
      <p:sp>
        <p:nvSpPr>
          <p:cNvPr id="20" name="Text 18"/>
          <p:cNvSpPr/>
          <p:nvPr/>
        </p:nvSpPr>
        <p:spPr>
          <a:xfrm>
            <a:off x="9867900" y="5099526"/>
            <a:ext cx="7495413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660"/>
              </a:lnSpc>
              <a:buNone/>
            </a:pPr>
            <a:r>
              <a:rPr lang="en-US" sz="2250" dirty="0">
                <a:solidFill>
                  <a:srgbClr val="C6D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Lenders underwrite an address, not a borrower. Credit information is the missing input, so collateral stands in for it.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9867900" y="6852126"/>
            <a:ext cx="2597547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6600" spc="-198" kern="0" dirty="0">
                <a:solidFill>
                  <a:srgbClr val="E2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150%</a:t>
            </a:r>
            <a:endParaRPr lang="en-US" sz="6600" dirty="0"/>
          </a:p>
        </p:txBody>
      </p:sp>
      <p:sp>
        <p:nvSpPr>
          <p:cNvPr id="22" name="Text 20"/>
          <p:cNvSpPr/>
          <p:nvPr/>
        </p:nvSpPr>
        <p:spPr>
          <a:xfrm>
            <a:off x="12496006" y="7316312"/>
            <a:ext cx="313944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734"/>
              </a:lnSpc>
              <a:buNone/>
            </a:pPr>
            <a:r>
              <a:rPr lang="en-US" sz="1950" dirty="0">
                <a:solidFill>
                  <a:srgbClr val="EAF4EE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locked up to borrow a single dollar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143000" y="8829675"/>
            <a:ext cx="16002000" cy="9525"/>
          </a:xfrm>
          <a:prstGeom prst="rect">
            <a:avLst/>
          </a:prstGeom>
          <a:gradFill rotWithShape="1">
            <a:gsLst>
              <a:gs pos="0">
                <a:srgbClr val="34483E">
                  <a:alpha val="100000"/>
                </a:srgbClr>
              </a:gs>
              <a:gs pos="100000">
                <a:srgbClr val="34483E">
                  <a:alpha val="100000"/>
                </a:srgbClr>
              </a:gs>
              <a:gs pos="100000">
                <a:srgbClr val="34483E">
                  <a:alpha val="0"/>
                </a:srgbClr>
              </a:gs>
            </a:gsLst>
            <a:lin ang="0" scaled="0"/>
          </a:gra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143000" y="9067800"/>
            <a:ext cx="126682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936"/>
              </a:lnSpc>
              <a:buNone/>
            </a:pPr>
            <a:r>
              <a:rPr lang="en-US" sz="1800" spc="252" kern="0" dirty="0">
                <a:solidFill>
                  <a:srgbClr val="EAF4EE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ZKREDIT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2486025" y="9163050"/>
            <a:ext cx="266700" cy="114300"/>
          </a:xfrm>
          <a:prstGeom prst="roundRect">
            <a:avLst>
              <a:gd name="adj" fmla="val 16667"/>
            </a:avLst>
          </a:prstGeom>
          <a:solidFill>
            <a:srgbClr val="19644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2905125" y="9067800"/>
            <a:ext cx="698080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936"/>
              </a:lnSpc>
              <a:buNone/>
            </a:pPr>
            <a:r>
              <a:rPr lang="en-US" sz="1800" dirty="0">
                <a:solidFill>
                  <a:srgbClr val="EAF4EE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privacy-first DeFi lending platform using zero knowledge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0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143000"/>
            <a:ext cx="2174081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35"/>
              </a:lnSpc>
              <a:buNone/>
            </a:pPr>
            <a:r>
              <a:rPr lang="en-US" sz="1950" spc="312" kern="0" dirty="0">
                <a:solidFill>
                  <a:srgbClr val="BDE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2022158"/>
            <a:ext cx="13411200" cy="834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276"/>
              </a:lnSpc>
              <a:buNone/>
            </a:pPr>
            <a:r>
              <a:rPr lang="en-US" sz="5700" spc="-171" kern="0" dirty="0">
                <a:solidFill>
                  <a:srgbClr val="EA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proof does the underwriting.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219200" y="3666172"/>
            <a:ext cx="15849600" cy="9525"/>
          </a:xfrm>
          <a:prstGeom prst="rect">
            <a:avLst/>
          </a:prstGeom>
          <a:gradFill rotWithShape="1">
            <a:gsLst>
              <a:gs pos="0">
                <a:srgbClr val="34483E">
                  <a:alpha val="0"/>
                </a:srgbClr>
              </a:gs>
              <a:gs pos="50000">
                <a:srgbClr val="34483E">
                  <a:alpha val="100000"/>
                </a:srgbClr>
              </a:gs>
              <a:gs pos="100000">
                <a:srgbClr val="34483E">
                  <a:alpha val="100000"/>
                </a:srgbClr>
              </a:gs>
              <a:gs pos="100000">
                <a:srgbClr val="34483E">
                  <a:alpha val="0"/>
                </a:srgbClr>
              </a:gs>
            </a:gsLst>
            <a:lin ang="0" scaled="0"/>
          </a:gra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143000" y="3580447"/>
            <a:ext cx="171450" cy="171450"/>
          </a:xfrm>
          <a:prstGeom prst="ellipse">
            <a:avLst/>
          </a:prstGeom>
          <a:solidFill>
            <a:srgbClr val="14201B"/>
          </a:solidFill>
          <a:ln w="6985">
            <a:solidFill>
              <a:srgbClr val="BDE6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143000" y="3961447"/>
            <a:ext cx="251460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101"/>
              </a:lnSpc>
              <a:buNone/>
            </a:pPr>
            <a:r>
              <a:rPr lang="en-US" sz="1800" spc="216" kern="0" dirty="0">
                <a:solidFill>
                  <a:srgbClr val="EAF4EE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4525328"/>
            <a:ext cx="2514600" cy="5991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480"/>
              </a:lnSpc>
              <a:buNone/>
            </a:pPr>
            <a:r>
              <a:rPr lang="en-US" sz="2850" spc="-29" kern="0" dirty="0">
                <a:solidFill>
                  <a:srgbClr val="EA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143000" y="5295900"/>
            <a:ext cx="2362200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734"/>
              </a:lnSpc>
              <a:buNone/>
            </a:pPr>
            <a:r>
              <a:rPr lang="en-US" sz="1950" dirty="0">
                <a:solidFill>
                  <a:srgbClr val="C6D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Solana mainnet and Jupiter, signed by the owner’s wallet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3886200" y="3580447"/>
            <a:ext cx="171450" cy="171450"/>
          </a:xfrm>
          <a:prstGeom prst="ellipse">
            <a:avLst/>
          </a:prstGeom>
          <a:solidFill>
            <a:srgbClr val="14201B"/>
          </a:solidFill>
          <a:ln w="6985">
            <a:solidFill>
              <a:srgbClr val="BDE6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86200" y="3961447"/>
            <a:ext cx="251460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101"/>
              </a:lnSpc>
              <a:buNone/>
            </a:pPr>
            <a:r>
              <a:rPr lang="en-US" sz="1800" spc="216" kern="0" dirty="0">
                <a:solidFill>
                  <a:srgbClr val="EAF4EE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886200" y="4525328"/>
            <a:ext cx="2514600" cy="5991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480"/>
              </a:lnSpc>
              <a:buNone/>
            </a:pPr>
            <a:r>
              <a:rPr lang="en-US" sz="2850" spc="-29" kern="0" dirty="0">
                <a:solidFill>
                  <a:srgbClr val="EA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3886200" y="5295900"/>
            <a:ext cx="23622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734"/>
              </a:lnSpc>
              <a:buNone/>
            </a:pPr>
            <a:r>
              <a:rPr lang="en-US" sz="1950" dirty="0">
                <a:solidFill>
                  <a:srgbClr val="C6D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Groth16 BN254 in the browser, about half a second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6629400" y="3580447"/>
            <a:ext cx="171450" cy="171450"/>
          </a:xfrm>
          <a:prstGeom prst="ellipse">
            <a:avLst/>
          </a:prstGeom>
          <a:solidFill>
            <a:srgbClr val="14201B"/>
          </a:solidFill>
          <a:ln w="6985">
            <a:solidFill>
              <a:srgbClr val="BDE6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629400" y="3961447"/>
            <a:ext cx="251460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101"/>
              </a:lnSpc>
              <a:buNone/>
            </a:pPr>
            <a:r>
              <a:rPr lang="en-US" sz="1800" spc="216" kern="0" dirty="0">
                <a:solidFill>
                  <a:srgbClr val="EAF4EE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629400" y="4525328"/>
            <a:ext cx="2514600" cy="5991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480"/>
              </a:lnSpc>
              <a:buNone/>
            </a:pPr>
            <a:r>
              <a:rPr lang="en-US" sz="2850" spc="-29" kern="0" dirty="0">
                <a:solidFill>
                  <a:srgbClr val="EA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6629400" y="5295900"/>
            <a:ext cx="2362200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734"/>
              </a:lnSpc>
              <a:buNone/>
            </a:pPr>
            <a:r>
              <a:rPr lang="en-US" sz="1950" dirty="0">
                <a:solidFill>
                  <a:srgbClr val="C6D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bindings, re-derived not received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372600" y="3580447"/>
            <a:ext cx="171450" cy="171450"/>
          </a:xfrm>
          <a:prstGeom prst="ellipse">
            <a:avLst/>
          </a:prstGeom>
          <a:solidFill>
            <a:srgbClr val="14201B"/>
          </a:solidFill>
          <a:ln w="6985">
            <a:solidFill>
              <a:srgbClr val="BDE6D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372600" y="3961447"/>
            <a:ext cx="251460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101"/>
              </a:lnSpc>
              <a:buNone/>
            </a:pPr>
            <a:r>
              <a:rPr lang="en-US" sz="1800" spc="216" kern="0" dirty="0">
                <a:solidFill>
                  <a:srgbClr val="EAF4EE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372600" y="4525328"/>
            <a:ext cx="2514600" cy="5991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480"/>
              </a:lnSpc>
              <a:buNone/>
            </a:pPr>
            <a:r>
              <a:rPr lang="en-US" sz="2850" spc="-29" kern="0" dirty="0">
                <a:solidFill>
                  <a:srgbClr val="EA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Retire</a:t>
            </a:r>
            <a:endParaRPr lang="en-US" sz="2850" dirty="0"/>
          </a:p>
        </p:txBody>
      </p:sp>
      <p:sp>
        <p:nvSpPr>
          <p:cNvPr id="20" name="Text 18"/>
          <p:cNvSpPr/>
          <p:nvPr/>
        </p:nvSpPr>
        <p:spPr>
          <a:xfrm>
            <a:off x="9372600" y="5295900"/>
            <a:ext cx="23622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734"/>
              </a:lnSpc>
              <a:buNone/>
            </a:pPr>
            <a:r>
              <a:rPr lang="en-US" sz="1950" dirty="0">
                <a:solidFill>
                  <a:srgbClr val="C6D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nullifier PDA, spendable exactly once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2115800" y="3580447"/>
            <a:ext cx="171450" cy="171450"/>
          </a:xfrm>
          <a:prstGeom prst="ellipse">
            <a:avLst/>
          </a:prstGeom>
          <a:solidFill>
            <a:srgbClr val="14201B"/>
          </a:solidFill>
          <a:ln w="6985">
            <a:solidFill>
              <a:srgbClr val="BDE6D0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2115800" y="3961447"/>
            <a:ext cx="251460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101"/>
              </a:lnSpc>
              <a:buNone/>
            </a:pPr>
            <a:r>
              <a:rPr lang="en-US" sz="1800" spc="216" kern="0" dirty="0">
                <a:solidFill>
                  <a:srgbClr val="EAF4EE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115800" y="4525328"/>
            <a:ext cx="2514600" cy="5991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480"/>
              </a:lnSpc>
              <a:buNone/>
            </a:pPr>
            <a:r>
              <a:rPr lang="en-US" sz="2850" spc="-29" kern="0" dirty="0">
                <a:solidFill>
                  <a:srgbClr val="EA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</a:t>
            </a:r>
            <a:endParaRPr lang="en-US" sz="2850" dirty="0"/>
          </a:p>
        </p:txBody>
      </p:sp>
      <p:sp>
        <p:nvSpPr>
          <p:cNvPr id="24" name="Text 22"/>
          <p:cNvSpPr/>
          <p:nvPr/>
        </p:nvSpPr>
        <p:spPr>
          <a:xfrm>
            <a:off x="12115800" y="5295900"/>
            <a:ext cx="23622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734"/>
              </a:lnSpc>
              <a:buNone/>
            </a:pPr>
            <a:r>
              <a:rPr lang="en-US" sz="1950" dirty="0">
                <a:solidFill>
                  <a:srgbClr val="C6D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fresh address, derived from ENS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14859000" y="3580447"/>
            <a:ext cx="171450" cy="171450"/>
          </a:xfrm>
          <a:prstGeom prst="ellipse">
            <a:avLst/>
          </a:prstGeom>
          <a:solidFill>
            <a:srgbClr val="14201B"/>
          </a:solidFill>
          <a:ln w="6985">
            <a:solidFill>
              <a:srgbClr val="BDE6D0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4859000" y="3961447"/>
            <a:ext cx="251460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101"/>
              </a:lnSpc>
              <a:buNone/>
            </a:pPr>
            <a:r>
              <a:rPr lang="en-US" sz="1800" spc="216" kern="0" dirty="0">
                <a:solidFill>
                  <a:srgbClr val="EAF4EE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859000" y="4525328"/>
            <a:ext cx="2514600" cy="5991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480"/>
              </a:lnSpc>
              <a:buNone/>
            </a:pPr>
            <a:r>
              <a:rPr lang="en-US" sz="2850" spc="-29" kern="0" dirty="0">
                <a:solidFill>
                  <a:srgbClr val="EA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</a:t>
            </a:r>
            <a:endParaRPr lang="en-US" sz="2850" dirty="0"/>
          </a:p>
        </p:txBody>
      </p:sp>
      <p:sp>
        <p:nvSpPr>
          <p:cNvPr id="28" name="Text 26"/>
          <p:cNvSpPr/>
          <p:nvPr/>
        </p:nvSpPr>
        <p:spPr>
          <a:xfrm>
            <a:off x="14859000" y="5295900"/>
            <a:ext cx="23622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734"/>
              </a:lnSpc>
              <a:buNone/>
            </a:pPr>
            <a:r>
              <a:rPr lang="en-US" sz="1950" dirty="0">
                <a:solidFill>
                  <a:srgbClr val="C6D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Solana devnet — the program re-verifies the proof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1143000" y="8829675"/>
            <a:ext cx="16002000" cy="9525"/>
          </a:xfrm>
          <a:prstGeom prst="rect">
            <a:avLst/>
          </a:prstGeom>
          <a:gradFill rotWithShape="1">
            <a:gsLst>
              <a:gs pos="0">
                <a:srgbClr val="34483E">
                  <a:alpha val="100000"/>
                </a:srgbClr>
              </a:gs>
              <a:gs pos="100000">
                <a:srgbClr val="34483E">
                  <a:alpha val="100000"/>
                </a:srgbClr>
              </a:gs>
              <a:gs pos="100000">
                <a:srgbClr val="34483E">
                  <a:alpha val="0"/>
                </a:srgbClr>
              </a:gs>
            </a:gsLst>
            <a:lin ang="0" scaled="0"/>
          </a:gra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1143000" y="9067800"/>
            <a:ext cx="126682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936"/>
              </a:lnSpc>
              <a:buNone/>
            </a:pPr>
            <a:r>
              <a:rPr lang="en-US" sz="1800" spc="252" kern="0" dirty="0">
                <a:solidFill>
                  <a:srgbClr val="EAF4EE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ZKREDIT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2486025" y="9163050"/>
            <a:ext cx="266700" cy="114300"/>
          </a:xfrm>
          <a:prstGeom prst="roundRect">
            <a:avLst>
              <a:gd name="adj" fmla="val 16667"/>
            </a:avLst>
          </a:prstGeom>
          <a:solidFill>
            <a:srgbClr val="196447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2905125" y="9067800"/>
            <a:ext cx="698080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936"/>
              </a:lnSpc>
              <a:buNone/>
            </a:pPr>
            <a:r>
              <a:rPr lang="en-US" sz="1800" dirty="0">
                <a:solidFill>
                  <a:srgbClr val="EAF4EE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privacy-first DeFi lending platform using zero knowledge</a:t>
            </a:r>
            <a:endParaRPr lang="en-US" sz="1800" dirty="0"/>
          </a:p>
        </p:txBody>
      </p:sp>
      <p:sp>
        <p:nvSpPr>
          <p:cNvPr id="33" name="TextBox 32"/>
          <p:cNvSpPr txBox="1"/>
          <p:nvPr/>
        </p:nvSpPr>
        <p:spPr>
          <a:xfrm>
            <a:off x="1097280" y="7040880"/>
            <a:ext cx="1554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50">
                <a:solidFill>
                  <a:srgbClr val="C6D6CC"/>
                </a:solidFill>
                <a:latin typeface="Arial"/>
              </a:rPr>
              <a:t>Deployed: private_credit 69qmzHFdDMP8hGFNcJcKpduGbdjEnAhdrvLrLaydvvRc on Solana devnet · borrower identity maurice.eth on ENSv2 Sepolia · balances read from Solana mainnet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0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143000"/>
            <a:ext cx="1459865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35"/>
              </a:lnSpc>
              <a:buNone/>
            </a:pPr>
            <a:r>
              <a:rPr lang="en-US" sz="1950" spc="312" kern="0" dirty="0">
                <a:solidFill>
                  <a:srgbClr val="BDE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945958"/>
            <a:ext cx="17602200" cy="834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276"/>
              </a:lnSpc>
              <a:buNone/>
            </a:pPr>
            <a:r>
              <a:rPr lang="en-US" sz="5700" spc="-171" kern="0" dirty="0">
                <a:solidFill>
                  <a:srgbClr val="EA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booleans out. Nothing else.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143000" y="3351847"/>
            <a:ext cx="544830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101"/>
              </a:lnSpc>
              <a:buNone/>
            </a:pPr>
            <a:r>
              <a:rPr lang="en-US" sz="1800" spc="252" kern="0" dirty="0">
                <a:solidFill>
                  <a:srgbClr val="EAF4EE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INPUTS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3953828"/>
            <a:ext cx="2619375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504"/>
              </a:lnSpc>
              <a:buNone/>
            </a:pPr>
            <a:r>
              <a:rPr lang="en-US" sz="2100" dirty="0">
                <a:solidFill>
                  <a:srgbClr val="EA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Holdings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3714750" y="4055745"/>
            <a:ext cx="2381250" cy="209550"/>
          </a:xfrm>
          <a:prstGeom prst="roundRect">
            <a:avLst>
              <a:gd name="adj" fmla="val 13636"/>
            </a:avLst>
          </a:prstGeom>
          <a:solidFill>
            <a:srgbClr val="93A79D">
              <a:alpha val="20000"/>
            </a:srgbClr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143000" y="4614863"/>
            <a:ext cx="2619375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504"/>
              </a:lnSpc>
              <a:buNone/>
            </a:pPr>
            <a:r>
              <a:rPr lang="en-US" sz="2100" dirty="0">
                <a:solidFill>
                  <a:srgbClr val="EA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Collateral quality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3714750" y="4716780"/>
            <a:ext cx="2381250" cy="209550"/>
          </a:xfrm>
          <a:prstGeom prst="roundRect">
            <a:avLst>
              <a:gd name="adj" fmla="val 13636"/>
            </a:avLst>
          </a:prstGeom>
          <a:solidFill>
            <a:srgbClr val="93A79D">
              <a:alpha val="20000"/>
            </a:srgbClr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143000" y="5275898"/>
            <a:ext cx="2619375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504"/>
              </a:lnSpc>
              <a:buNone/>
            </a:pPr>
            <a:r>
              <a:rPr lang="en-US" sz="2100" dirty="0">
                <a:solidFill>
                  <a:srgbClr val="EA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 months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3714750" y="5377815"/>
            <a:ext cx="2381250" cy="209550"/>
          </a:xfrm>
          <a:prstGeom prst="roundRect">
            <a:avLst>
              <a:gd name="adj" fmla="val 13636"/>
            </a:avLst>
          </a:prstGeom>
          <a:solidFill>
            <a:srgbClr val="93A79D">
              <a:alpha val="20000"/>
            </a:srgbClr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143000" y="5936932"/>
            <a:ext cx="2457450" cy="86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504"/>
              </a:lnSpc>
              <a:buNone/>
            </a:pPr>
            <a:r>
              <a:rPr lang="en-US" sz="2100" dirty="0">
                <a:solidFill>
                  <a:srgbClr val="EA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Restricted exposure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3714750" y="6245543"/>
            <a:ext cx="2381250" cy="209550"/>
          </a:xfrm>
          <a:prstGeom prst="roundRect">
            <a:avLst>
              <a:gd name="adj" fmla="val 13636"/>
            </a:avLst>
          </a:prstGeom>
          <a:solidFill>
            <a:srgbClr val="93A79D">
              <a:alpha val="20000"/>
            </a:srgbClr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629400" y="5053013"/>
            <a:ext cx="552450" cy="9525"/>
          </a:xfrm>
          <a:prstGeom prst="rect">
            <a:avLst/>
          </a:prstGeom>
          <a:gradFill rotWithShape="1">
            <a:gsLst>
              <a:gs pos="0">
                <a:srgbClr val="EAF4EE">
                  <a:alpha val="0"/>
                </a:srgbClr>
              </a:gs>
              <a:gs pos="100000">
                <a:srgbClr val="EAF4EE">
                  <a:alpha val="40000"/>
                </a:srgbClr>
              </a:gs>
            </a:gsLst>
            <a:lin ang="0" scaled="0"/>
          </a:gra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7715250" y="3495358"/>
            <a:ext cx="4000500" cy="3124835"/>
          </a:xfrm>
          <a:prstGeom prst="roundRect">
            <a:avLst>
              <a:gd name="adj" fmla="val 4267"/>
            </a:avLst>
          </a:prstGeom>
          <a:solidFill>
            <a:srgbClr val="203129"/>
          </a:solidFill>
          <a:ln w="6985">
            <a:solidFill>
              <a:srgbClr val="3E625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103235" y="3883343"/>
            <a:ext cx="3321266" cy="746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101"/>
              </a:lnSpc>
              <a:buNone/>
            </a:pPr>
            <a:r>
              <a:rPr lang="en-US" sz="1800" spc="252" kern="0" dirty="0">
                <a:solidFill>
                  <a:srgbClr val="E2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ZERO-KNOWLEDGE PROOF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103235" y="4744403"/>
            <a:ext cx="3546983" cy="6877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3300" spc="-66" kern="0" dirty="0">
                <a:solidFill>
                  <a:srgbClr val="EA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Groth16 BN254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8103235" y="5546407"/>
            <a:ext cx="3321266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734"/>
              </a:lnSpc>
              <a:buNone/>
            </a:pPr>
            <a:r>
              <a:rPr lang="en-US" sz="1950" dirty="0">
                <a:solidFill>
                  <a:srgbClr val="EAF4E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bindings, verified again on chain, spendable once.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2249150" y="5053013"/>
            <a:ext cx="552450" cy="9525"/>
          </a:xfrm>
          <a:prstGeom prst="rect">
            <a:avLst/>
          </a:prstGeom>
          <a:gradFill rotWithShape="1">
            <a:gsLst>
              <a:gs pos="0">
                <a:srgbClr val="EAF4EE">
                  <a:alpha val="40000"/>
                </a:srgbClr>
              </a:gs>
              <a:gs pos="100000">
                <a:srgbClr val="EAF4EE">
                  <a:alpha val="0"/>
                </a:srgbClr>
              </a:gs>
            </a:gsLst>
            <a:lin ang="0" scaled="0"/>
          </a:gra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3335000" y="3351847"/>
            <a:ext cx="419100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101"/>
              </a:lnSpc>
              <a:buNone/>
            </a:pPr>
            <a:r>
              <a:rPr lang="en-US" sz="1800" spc="252" kern="0" dirty="0">
                <a:solidFill>
                  <a:srgbClr val="EAF4EE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LENDER GETS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335000" y="3953828"/>
            <a:ext cx="933450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504"/>
              </a:lnSpc>
              <a:buNone/>
            </a:pPr>
            <a:r>
              <a:rPr lang="en-US" sz="2100" dirty="0">
                <a:solidFill>
                  <a:srgbClr val="E2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4382750" y="3953828"/>
            <a:ext cx="2919381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504"/>
              </a:lnSpc>
              <a:buNone/>
            </a:pPr>
            <a:r>
              <a:rPr lang="en-US" sz="2100" dirty="0">
                <a:solidFill>
                  <a:srgbClr val="EA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above the floor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3335000" y="4614863"/>
            <a:ext cx="933450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504"/>
              </a:lnSpc>
              <a:buNone/>
            </a:pPr>
            <a:r>
              <a:rPr lang="en-US" sz="2100" dirty="0">
                <a:solidFill>
                  <a:srgbClr val="E2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4382750" y="4614863"/>
            <a:ext cx="1801432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504"/>
              </a:lnSpc>
              <a:buNone/>
            </a:pPr>
            <a:r>
              <a:rPr lang="en-US" sz="2100" dirty="0">
                <a:solidFill>
                  <a:srgbClr val="EA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at tier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3335000" y="5275898"/>
            <a:ext cx="933450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504"/>
              </a:lnSpc>
              <a:buNone/>
            </a:pPr>
            <a:r>
              <a:rPr lang="en-US" sz="2100" dirty="0">
                <a:solidFill>
                  <a:srgbClr val="E2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4382750" y="5275898"/>
            <a:ext cx="2761170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504"/>
              </a:lnSpc>
              <a:buNone/>
            </a:pPr>
            <a:r>
              <a:rPr lang="en-US" sz="2100" dirty="0">
                <a:solidFill>
                  <a:srgbClr val="EA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 long enough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3335000" y="5936932"/>
            <a:ext cx="933450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504"/>
              </a:lnSpc>
              <a:buNone/>
            </a:pPr>
            <a:r>
              <a:rPr lang="en-US" sz="2100" dirty="0">
                <a:solidFill>
                  <a:srgbClr val="E2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14382750" y="5936932"/>
            <a:ext cx="2845118" cy="86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504"/>
              </a:lnSpc>
              <a:buNone/>
            </a:pPr>
            <a:r>
              <a:rPr lang="en-US" sz="2100" dirty="0">
                <a:solidFill>
                  <a:srgbClr val="EA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restricted exposure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1143000" y="8829675"/>
            <a:ext cx="16002000" cy="9525"/>
          </a:xfrm>
          <a:prstGeom prst="rect">
            <a:avLst/>
          </a:prstGeom>
          <a:gradFill rotWithShape="1">
            <a:gsLst>
              <a:gs pos="0">
                <a:srgbClr val="EAF4EE">
                  <a:alpha val="25000"/>
                </a:srgbClr>
              </a:gs>
              <a:gs pos="100000">
                <a:srgbClr val="EAF4EE">
                  <a:alpha val="25000"/>
                </a:srgbClr>
              </a:gs>
              <a:gs pos="100000">
                <a:srgbClr val="EAF4EE">
                  <a:alpha val="0"/>
                </a:srgbClr>
              </a:gs>
            </a:gsLst>
            <a:lin ang="0" scaled="0"/>
          </a:gra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143000" y="9067800"/>
            <a:ext cx="126682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936"/>
              </a:lnSpc>
              <a:buNone/>
            </a:pPr>
            <a:r>
              <a:rPr lang="en-US" sz="1800" spc="252" kern="0" dirty="0">
                <a:solidFill>
                  <a:srgbClr val="EAF4EE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ZKREDIT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2486025" y="9163050"/>
            <a:ext cx="266700" cy="114300"/>
          </a:xfrm>
          <a:prstGeom prst="roundRect">
            <a:avLst>
              <a:gd name="adj" fmla="val 16667"/>
            </a:avLst>
          </a:prstGeom>
          <a:solidFill>
            <a:srgbClr val="196447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2905125" y="9067800"/>
            <a:ext cx="698080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936"/>
              </a:lnSpc>
              <a:buNone/>
            </a:pPr>
            <a:r>
              <a:rPr lang="en-US" sz="1800" dirty="0">
                <a:solidFill>
                  <a:srgbClr val="EAF4EE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privacy-first DeFi lending platform using zero knowledge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0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2583656"/>
            <a:ext cx="1603058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35"/>
              </a:lnSpc>
              <a:buNone/>
            </a:pPr>
            <a:r>
              <a:rPr lang="en-US" sz="1950" spc="312" kern="0" dirty="0">
                <a:solidFill>
                  <a:srgbClr val="BDE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3348514"/>
            <a:ext cx="8633460" cy="1630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276"/>
              </a:lnSpc>
              <a:buNone/>
            </a:pPr>
            <a:r>
              <a:rPr lang="en-US" sz="5700" spc="-171" kern="0" dirty="0">
                <a:solidFill>
                  <a:srgbClr val="EA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name gets paid. The wallet stays unknown.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143000" y="5322094"/>
            <a:ext cx="8633460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165"/>
              </a:lnSpc>
              <a:buNone/>
            </a:pPr>
            <a:r>
              <a:rPr lang="en-US" sz="2100" dirty="0">
                <a:solidFill>
                  <a:srgbClr val="C6D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ENS text record carries the payout key. The lender resolves the name and derives a fresh Solana address for every draw, so two loans to one borrower are not linkable.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143000" y="6903244"/>
            <a:ext cx="863346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165"/>
              </a:lnSpc>
              <a:buNone/>
            </a:pPr>
            <a:r>
              <a:rPr lang="en-US" sz="2100" dirty="0">
                <a:solidFill>
                  <a:srgbClr val="EAF4EE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Deliberately not ERC-5564 scheme 1 — that id is registered for secp256k1 — so the record key and value prefix are our own.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0363200" y="2560161"/>
            <a:ext cx="5334000" cy="1099820"/>
          </a:xfrm>
          <a:prstGeom prst="roundRect">
            <a:avLst>
              <a:gd name="adj" fmla="val 10393"/>
            </a:avLst>
          </a:prstGeom>
          <a:solidFill>
            <a:srgbClr val="203129"/>
          </a:solidFill>
          <a:ln w="6985">
            <a:solidFill>
              <a:srgbClr val="BDE6D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674986" y="2814796"/>
            <a:ext cx="2098818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364"/>
              </a:lnSpc>
              <a:buNone/>
            </a:pPr>
            <a:r>
              <a:rPr lang="en-US" sz="3000" spc="-30" kern="0" dirty="0">
                <a:solidFill>
                  <a:srgbClr val="EA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maurice.eth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2847320" y="2988786"/>
            <a:ext cx="2743200" cy="39243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7101"/>
              </a:lnSpc>
              <a:buNone/>
            </a:pPr>
            <a:r>
              <a:rPr lang="en-US" sz="1800" spc="180" kern="0" dirty="0">
                <a:solidFill>
                  <a:srgbClr val="E2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ENSv2 · SEPOLIA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363200" y="3869531"/>
            <a:ext cx="5334000" cy="1334135"/>
          </a:xfrm>
          <a:prstGeom prst="roundRect">
            <a:avLst>
              <a:gd name="adj" fmla="val 8567"/>
            </a:avLst>
          </a:prstGeom>
          <a:ln w="6985">
            <a:solidFill>
              <a:srgbClr val="34483E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674986" y="4105116"/>
            <a:ext cx="5181473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101"/>
              </a:lnSpc>
              <a:buNone/>
            </a:pPr>
            <a:r>
              <a:rPr lang="en-US" sz="1800" spc="216" kern="0" dirty="0">
                <a:solidFill>
                  <a:srgbClr val="EAF4EE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PAYOUT KEY · X25519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674986" y="4554696"/>
            <a:ext cx="5181473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504"/>
              </a:lnSpc>
              <a:buNone/>
            </a:pPr>
            <a:r>
              <a:rPr lang="en-US" sz="2100" dirty="0">
                <a:solidFill>
                  <a:srgbClr val="EA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privatecredit.payout-key[501]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0363200" y="5413216"/>
            <a:ext cx="9525" cy="1418272"/>
          </a:xfrm>
          <a:prstGeom prst="rect">
            <a:avLst/>
          </a:prstGeom>
          <a:solidFill>
            <a:srgbClr val="34483E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674986" y="5413216"/>
            <a:ext cx="1219200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35"/>
              </a:lnSpc>
              <a:buNone/>
            </a:pPr>
            <a:r>
              <a:rPr lang="en-US" sz="1950" dirty="0">
                <a:solidFill>
                  <a:srgbClr val="EAF4EE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1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2008486" y="5413216"/>
            <a:ext cx="1055687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35"/>
              </a:lnSpc>
              <a:buNone/>
            </a:pPr>
            <a:r>
              <a:rPr lang="en-US" sz="1950" dirty="0">
                <a:solidFill>
                  <a:srgbClr val="EA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7xQ…4b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3178472" y="5519420"/>
            <a:ext cx="2518728" cy="171450"/>
          </a:xfrm>
          <a:prstGeom prst="roundRect">
            <a:avLst>
              <a:gd name="adj" fmla="val 16667"/>
            </a:avLst>
          </a:prstGeom>
          <a:solidFill>
            <a:srgbClr val="34483E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0674986" y="5930424"/>
            <a:ext cx="1219200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35"/>
              </a:lnSpc>
              <a:buNone/>
            </a:pPr>
            <a:r>
              <a:rPr lang="en-US" sz="1950" dirty="0">
                <a:solidFill>
                  <a:srgbClr val="EAF4EE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2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2008486" y="5930424"/>
            <a:ext cx="1114584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35"/>
              </a:lnSpc>
              <a:buNone/>
            </a:pPr>
            <a:r>
              <a:rPr lang="en-US" sz="1950" dirty="0">
                <a:solidFill>
                  <a:srgbClr val="EA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9mR…c8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3237369" y="6036627"/>
            <a:ext cx="2459831" cy="171450"/>
          </a:xfrm>
          <a:prstGeom prst="roundRect">
            <a:avLst>
              <a:gd name="adj" fmla="val 16667"/>
            </a:avLst>
          </a:prstGeom>
          <a:solidFill>
            <a:srgbClr val="34483E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674986" y="6447631"/>
            <a:ext cx="1219200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35"/>
              </a:lnSpc>
              <a:buNone/>
            </a:pPr>
            <a:r>
              <a:rPr lang="en-US" sz="1950" dirty="0">
                <a:solidFill>
                  <a:srgbClr val="EAF4EE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3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2008486" y="6447631"/>
            <a:ext cx="951389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35"/>
              </a:lnSpc>
              <a:buNone/>
            </a:pPr>
            <a:r>
              <a:rPr lang="en-US" sz="1950" dirty="0">
                <a:solidFill>
                  <a:srgbClr val="EA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2bK…f1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3074174" y="6553835"/>
            <a:ext cx="2623026" cy="171450"/>
          </a:xfrm>
          <a:prstGeom prst="roundRect">
            <a:avLst>
              <a:gd name="adj" fmla="val 16667"/>
            </a:avLst>
          </a:prstGeom>
          <a:solidFill>
            <a:srgbClr val="34483E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0363200" y="7041039"/>
            <a:ext cx="549402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734"/>
              </a:lnSpc>
              <a:buNone/>
            </a:pPr>
            <a:r>
              <a:rPr lang="en-US" sz="1950" dirty="0">
                <a:solidFill>
                  <a:srgbClr val="E2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draws, three addresses — unlinkable to everyone but the holder.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143000" y="8829675"/>
            <a:ext cx="16002000" cy="9525"/>
          </a:xfrm>
          <a:prstGeom prst="rect">
            <a:avLst/>
          </a:prstGeom>
          <a:gradFill rotWithShape="1">
            <a:gsLst>
              <a:gs pos="0">
                <a:srgbClr val="34483E">
                  <a:alpha val="100000"/>
                </a:srgbClr>
              </a:gs>
              <a:gs pos="100000">
                <a:srgbClr val="34483E">
                  <a:alpha val="100000"/>
                </a:srgbClr>
              </a:gs>
              <a:gs pos="100000">
                <a:srgbClr val="34483E">
                  <a:alpha val="0"/>
                </a:srgbClr>
              </a:gs>
            </a:gsLst>
            <a:lin ang="0" scaled="0"/>
          </a:gra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143000" y="9067800"/>
            <a:ext cx="126682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936"/>
              </a:lnSpc>
              <a:buNone/>
            </a:pPr>
            <a:r>
              <a:rPr lang="en-US" sz="1800" spc="252" kern="0" dirty="0">
                <a:solidFill>
                  <a:srgbClr val="EAF4EE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ZKREDIT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2486025" y="9163050"/>
            <a:ext cx="266700" cy="114300"/>
          </a:xfrm>
          <a:prstGeom prst="roundRect">
            <a:avLst>
              <a:gd name="adj" fmla="val 16667"/>
            </a:avLst>
          </a:prstGeom>
          <a:solidFill>
            <a:srgbClr val="19644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2905125" y="9067800"/>
            <a:ext cx="698080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936"/>
              </a:lnSpc>
              <a:buNone/>
            </a:pPr>
            <a:r>
              <a:rPr lang="en-US" sz="1800" dirty="0">
                <a:solidFill>
                  <a:srgbClr val="EAF4EE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privacy-first DeFi lending platform using zero knowledge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17201C"/>
      </a:dk1>
      <a:lt1>
        <a:sysClr val="window" lastClr="FBFCF9"/>
      </a:lt1>
      <a:dk2>
        <a:srgbClr val="203129"/>
      </a:dk2>
      <a:lt2>
        <a:srgbClr val="F3F4F0"/>
      </a:lt2>
      <a:accent1>
        <a:srgbClr val="196447"/>
      </a:accent1>
      <a:accent2>
        <a:srgbClr val="0F5138"/>
      </a:accent2>
      <a:accent3>
        <a:srgbClr val="93A79D"/>
      </a:accent3>
      <a:accent4>
        <a:srgbClr val="865D20"/>
      </a:accent4>
      <a:accent5>
        <a:srgbClr val="BDE6D0"/>
      </a:accent5>
      <a:accent6>
        <a:srgbClr val="9A3D35"/>
      </a:accent6>
      <a:hlink>
        <a:srgbClr val="196447"/>
      </a:hlink>
      <a:folHlink>
        <a:srgbClr val="0F513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2026-09-04T17:05:51Z</dcterms:created>
  <dcterms:modified xsi:type="dcterms:W3CDTF">2026-09-04T17:05:51Z</dcterms:modified>
</cp:coreProperties>
</file>